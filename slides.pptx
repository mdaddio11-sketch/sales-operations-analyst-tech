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4A"/>
                </a:solidFill>
                <a:latin typeface="Arial"/>
              </a:rPr>
              <a:t>Deal Volume by Stage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Deals</c:v>
                </c:pt>
              </c:strCache>
            </c:strRef>
          </c:tx>
          <c:spPr>
            <a:solidFill>
              <a:srgbClr val="00B3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3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3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3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6AD5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6AD5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8BB7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Appt
Scheduled</c:v>
                  </c:pt>
                  <c:pt idx="1">
                    <c:v>Qualified
to Buy</c:v>
                  </c:pt>
                  <c:pt idx="2">
                    <c:v>Contract
Sent</c:v>
                  </c:pt>
                  <c:pt idx="3">
                    <c:v>Presentation
Scheduled</c:v>
                  </c:pt>
                  <c:pt idx="4">
                    <c:v>Decision
Maker</c:v>
                  </c:pt>
                  <c:pt idx="5">
                    <c:v>Closed
Won</c:v>
                  </c:pt>
                  <c:pt idx="6">
                    <c:v>Closed
Lost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B4A"/>
                </a:solidFill>
                <a:latin typeface="Arial"/>
              </a:rPr>
              <a:t>Avg Days to Close by Stage (negative = OVERDUE)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 to Close</c:v>
                </c:pt>
              </c:strCache>
            </c:strRef>
          </c:tx>
          <c:spPr>
            <a:solidFill>
              <a:srgbClr val="00B3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3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3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3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8BB7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608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Appt
Scheduled</c:v>
                  </c:pt>
                  <c:pt idx="1">
                    <c:v>Qualified
to Buy</c:v>
                  </c:pt>
                  <c:pt idx="2">
                    <c:v>Contract
Sent</c:v>
                  </c:pt>
                  <c:pt idx="3">
                    <c:v>Presentation
Scheduled</c:v>
                  </c:pt>
                  <c:pt idx="4">
                    <c:v>Decision
Maker</c:v>
                  </c:pt>
                  <c:pt idx="5">
                    <c:v>Closed
Won</c:v>
                  </c:pt>
                  <c:pt idx="6">
                    <c:v>Closed
Lost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</c:v>
                </c:pt>
                <c:pt idx="1">
                  <c:v>38</c:v>
                </c:pt>
                <c:pt idx="2">
                  <c:v>12</c:v>
                </c:pt>
                <c:pt idx="3">
                  <c:v>-28</c:v>
                </c:pt>
                <c:pt idx="4">
                  <c:v>-45</c:v>
                </c:pt>
                <c:pt idx="5">
                  <c:v>10</c:v>
                </c:pt>
                <c:pt idx="6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88"/>
          </a:solidFill>
          <a:ln w="12700">
            <a:solidFill>
              <a:srgbClr val="00B3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Sales Operations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Analyst, Sales Operations — Hewlett Packard Enterprise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3657600" cy="36576"/>
          </a:xfrm>
          <a:prstGeom prst="rect">
            <a:avLst/>
          </a:prstGeom>
          <a:solidFill>
            <a:srgbClr val="4A6A9A"/>
          </a:solidFill>
          <a:ln w="12700">
            <a:solidFill>
              <a:srgbClr val="4A6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D'Addio  |  May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920240" cy="868680"/>
          </a:xfrm>
          <a:prstGeom prst="rect">
            <a:avLst/>
          </a:prstGeom>
          <a:solidFill>
            <a:srgbClr val="132E54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136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370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931920"/>
            <a:ext cx="1920240" cy="868680"/>
          </a:xfrm>
          <a:prstGeom prst="rect">
            <a:avLst/>
          </a:prstGeom>
          <a:solidFill>
            <a:srgbClr val="132E54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9136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$708K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4370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1920240" cy="868680"/>
          </a:xfrm>
          <a:prstGeom prst="rect">
            <a:avLst/>
          </a:prstGeom>
          <a:solidFill>
            <a:srgbClr val="132E54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136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4370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Size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3931920"/>
            <a:ext cx="1920240" cy="868680"/>
          </a:xfrm>
          <a:prstGeom prst="rect">
            <a:avLst/>
          </a:prstGeom>
          <a:solidFill>
            <a:srgbClr val="132E54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9136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03720" y="4370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Mid-Funnel Deals Take 3x Longer to Close Than Won Deals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430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143000"/>
            <a:ext cx="3291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Snapshot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0" y="1691640"/>
            <a:ext cx="301752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7282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760720" y="19933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Deals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0" y="2350008"/>
            <a:ext cx="301752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3865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$708,500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760720" y="26517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Value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3008376"/>
            <a:ext cx="301752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3044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$88,562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60720" y="33101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Size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15000" y="3666744"/>
            <a:ext cx="301752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033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760720" y="39684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to Close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EBF8FF"/>
          </a:solidFill>
          <a:ln w="12700">
            <a:solidFill>
              <a:srgbClr val="00B3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460857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Evidence: </a:t>
            </a:r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deals average 10 days to close vs. 65+ days for mid-funnel appointment and presentation stages — a 6x gap.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Mid-Funnel Deals Signal a Coaching Gap, Not a Pipeline Gap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4300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43000"/>
            <a:ext cx="3246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12344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06440" y="1691640"/>
            <a:ext cx="2926080" cy="7772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2 deals OVERDUE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Decision Maker stages show negative days-to-close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2560320"/>
            <a:ext cx="2926080" cy="7772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Size vs. Speed gap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avg $150K vs. $88K overall — bigger deals get more attention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3429000"/>
            <a:ext cx="2926080" cy="77724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Multi-stakeholder stall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78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Mid-funnel requires buy-in from multiple contacts; no follow-up cadence = deals go dark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451713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Evidence: </a:t>
            </a:r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deals average $150K vs. overall average of $88K — larger deals close faster because they receive more rep attention and executive sponsorship.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388"/>
          </a:solidFill>
          <a:ln w="12700">
            <a:solidFill>
              <a:srgbClr val="00B3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Deal Health Scoring to Surface Stalled Deals Before They Go Cold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Stalled Deals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reps when a deal has 0 activity for 14+ days in mid-funnel stages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Expected Outcome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4930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re-engage before deals go completely cold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Pipeline Reviews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manager attention on presentationscheduled and decisionmakerboughtout stages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Expected Outcome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4930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avg days-to-close by 20% through earlier coaching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1737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GreenLake Pipeline Tracking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separate pipeline view for recurring GreenLake deals vs. one-time transactions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Expected Outcome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4930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forecast accuracy for CFO reporting on ARR growth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HubSpot API + Snowflake + dbt + Streamlit  |  Live: sales-operations-analyst-tech-7trecnk33sod5z6kdradoc.streamlit.app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88"/>
          </a:solidFill>
          <a:ln w="12700">
            <a:solidFill>
              <a:srgbClr val="00B3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508760" cy="1371600"/>
          </a:xfrm>
          <a:prstGeom prst="rect">
            <a:avLst/>
          </a:prstGeom>
          <a:solidFill>
            <a:srgbClr val="132E54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API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92808" y="15087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84832" y="1097280"/>
            <a:ext cx="1508760" cy="1371600"/>
          </a:xfrm>
          <a:prstGeom prst="rect">
            <a:avLst/>
          </a:prstGeom>
          <a:solidFill>
            <a:srgbClr val="132E54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170432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Press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84832" y="20116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(scrape)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5087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03904" y="1097280"/>
            <a:ext cx="1508760" cy="1371600"/>
          </a:xfrm>
          <a:prstGeom prst="rect">
            <a:avLst/>
          </a:prstGeom>
          <a:solidFill>
            <a:srgbClr val="132E54"/>
          </a:solidFill>
          <a:ln w="12700">
            <a:solidFill>
              <a:srgbClr val="00B3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170432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03904" y="20116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Storage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30952" y="15087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22976" y="1097280"/>
            <a:ext cx="1508760" cy="1371600"/>
          </a:xfrm>
          <a:prstGeom prst="rect">
            <a:avLst/>
          </a:prstGeom>
          <a:solidFill>
            <a:srgbClr val="132E5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1170432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MART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22976" y="20116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15087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42048" y="1097280"/>
            <a:ext cx="1508760" cy="1371600"/>
          </a:xfrm>
          <a:prstGeom prst="rect">
            <a:avLst/>
          </a:prstGeom>
          <a:solidFill>
            <a:srgbClr val="132E54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1170432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42048" y="20116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743200"/>
            <a:ext cx="2743200" cy="411480"/>
          </a:xfrm>
          <a:prstGeom prst="rect">
            <a:avLst/>
          </a:prstGeom>
          <a:solidFill>
            <a:srgbClr val="132E54"/>
          </a:solidFill>
          <a:ln w="12700">
            <a:solidFill>
              <a:srgbClr val="4A6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7706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GitHub Actions — Daily Schedule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pipeline analysis via dbt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ETL: API extraction + web scraping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orchestration with GitHub 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 (deployed publicly)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knowledge base (15 sources, 3 wiki pages)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HPE Sales Operations Analytics</dc:title>
  <dc:subject>PptxGenJS Presentation</dc:subject>
  <dc:creator>Matthew D'Addio</dc:creator>
  <cp:lastModifiedBy>Matthew D'Addio</cp:lastModifiedBy>
  <cp:revision>1</cp:revision>
  <dcterms:created xsi:type="dcterms:W3CDTF">2026-05-04T09:12:48Z</dcterms:created>
  <dcterms:modified xsi:type="dcterms:W3CDTF">2026-05-04T09:12:48Z</dcterms:modified>
</cp:coreProperties>
</file>